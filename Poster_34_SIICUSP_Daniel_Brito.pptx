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43200638"/>
  <p:notesSz cx="43200638" cy="323992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3054" y="-9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788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daniel/siicusp_poster/assets/siicusp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3931920" cy="3931920"/>
          </a:xfrm>
          <a:prstGeom prst="rect">
            <a:avLst/>
          </a:prstGeom>
        </p:spPr>
      </p:pic>
      <p:pic>
        <p:nvPicPr>
          <p:cNvPr id="3" name="Image 1" descr="/home/daniel/siicusp_poster/assets/ffclrp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0" y="945379"/>
            <a:ext cx="4709160" cy="277268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800600" y="576072"/>
            <a:ext cx="22037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820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Genéticos para Estimação de Importância e Interação de Atributos na Classificação de Imagens Espectrais em Agricultura</a:t>
            </a:r>
            <a:endParaRPr lang="en-US" sz="6820" dirty="0"/>
          </a:p>
        </p:txBody>
      </p:sp>
      <p:sp>
        <p:nvSpPr>
          <p:cNvPr id="5" name="Text 1"/>
          <p:cNvSpPr txBox="1"/>
          <p:nvPr/>
        </p:nvSpPr>
        <p:spPr>
          <a:xfrm>
            <a:off x="4572000" y="3401568"/>
            <a:ext cx="2258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80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Departamento de Computação e Matemática — FFCLRP / Universidade de São Paulo</a:t>
            </a:r>
            <a:endParaRPr lang="en-US" sz="2480" dirty="0"/>
          </a:p>
        </p:txBody>
      </p:sp>
      <p:sp>
        <p:nvSpPr>
          <p:cNvPr id="6" name="Text 2"/>
          <p:cNvSpPr txBox="1"/>
          <p:nvPr/>
        </p:nvSpPr>
        <p:spPr>
          <a:xfrm>
            <a:off x="4572000" y="3822192"/>
            <a:ext cx="2258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70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Av. Bandeirantes, 3900 — Monte Alegre — Ribeirão Preto, SP — CEP 14040-901</a:t>
            </a:r>
            <a:endParaRPr lang="en-US" sz="2170" dirty="0"/>
          </a:p>
        </p:txBody>
      </p:sp>
      <p:sp>
        <p:nvSpPr>
          <p:cNvPr id="7" name="Text 3"/>
          <p:cNvSpPr txBox="1"/>
          <p:nvPr/>
        </p:nvSpPr>
        <p:spPr>
          <a:xfrm>
            <a:off x="4572000" y="4224528"/>
            <a:ext cx="2258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Natan dos Santos Brito  •  Orientador: Prof. Dr. Renato Tinós</a:t>
            </a:r>
            <a:endParaRPr lang="en-US" sz="2480" dirty="0"/>
          </a:p>
        </p:txBody>
      </p:sp>
      <p:sp>
        <p:nvSpPr>
          <p:cNvPr id="8" name="Shape 4"/>
          <p:cNvSpPr/>
          <p:nvPr/>
        </p:nvSpPr>
        <p:spPr>
          <a:xfrm>
            <a:off x="914400" y="4901184"/>
            <a:ext cx="30571227" cy="164592"/>
          </a:xfrm>
          <a:prstGeom prst="rect">
            <a:avLst/>
          </a:prstGeom>
          <a:solidFill>
            <a:srgbClr val="0B86A6"/>
          </a:solidFill>
          <a:ln w="12700">
            <a:solidFill>
              <a:srgbClr val="0B8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5"/>
          <p:cNvSpPr/>
          <p:nvPr/>
        </p:nvSpPr>
        <p:spPr>
          <a:xfrm>
            <a:off x="914400" y="5084064"/>
            <a:ext cx="30571227" cy="82296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914400" y="5623560"/>
            <a:ext cx="15026335" cy="621792"/>
          </a:xfrm>
          <a:prstGeom prst="rect">
            <a:avLst/>
          </a:prstGeom>
          <a:solidFill>
            <a:srgbClr val="0B86A6"/>
          </a:solidFill>
          <a:ln w="12700">
            <a:solidFill>
              <a:srgbClr val="0B8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 txBox="1"/>
          <p:nvPr/>
        </p:nvSpPr>
        <p:spPr>
          <a:xfrm>
            <a:off x="1097280" y="5650992"/>
            <a:ext cx="14660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3472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6382512"/>
            <a:ext cx="1484345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seleção de atributos é especialmente relevante em aplicações agrícolas que combinam variáveis agronômicas e dados hiperespectrais. Neste trabalho, o GAwLL (Genetic Algorithm with Linkage Learning) foi utilizado para identificar atributos importantes e relações de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interação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entre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eles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visando reduzir a dimensionalidade sem comprometer o desempenho dos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além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informações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a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explicabilidade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dos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mesmos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[1,2].</a:t>
            </a:r>
            <a:endParaRPr lang="en-US" sz="2480" dirty="0"/>
          </a:p>
        </p:txBody>
      </p:sp>
      <p:sp>
        <p:nvSpPr>
          <p:cNvPr id="13" name="Shape 9"/>
          <p:cNvSpPr/>
          <p:nvPr/>
        </p:nvSpPr>
        <p:spPr>
          <a:xfrm>
            <a:off x="914400" y="8656711"/>
            <a:ext cx="15026335" cy="621792"/>
          </a:xfrm>
          <a:prstGeom prst="rect">
            <a:avLst/>
          </a:prstGeom>
          <a:solidFill>
            <a:srgbClr val="0B86A6"/>
          </a:solidFill>
          <a:ln w="12700">
            <a:solidFill>
              <a:srgbClr val="0B8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 txBox="1"/>
          <p:nvPr/>
        </p:nvSpPr>
        <p:spPr>
          <a:xfrm>
            <a:off x="1097280" y="8684143"/>
            <a:ext cx="14660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3472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9400395"/>
            <a:ext cx="14386255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just"/>
            <a:r>
              <a:rPr lang="pt-BR" sz="24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 projeto, o GAwLL será utilizado para obter informações de importância e interação de variáveis em imagens espectrais em agricultura. Diferentes modelos de AM serão empregados, entre eles redes neurais artificiais, árvores de decisão, florestas aleatórias e K-vizinhos mais próximos.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914400" y="10771627"/>
            <a:ext cx="15026335" cy="621792"/>
          </a:xfrm>
          <a:prstGeom prst="rect">
            <a:avLst/>
          </a:prstGeom>
          <a:solidFill>
            <a:srgbClr val="0B86A6"/>
          </a:solidFill>
          <a:ln w="12700">
            <a:solidFill>
              <a:srgbClr val="0B8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 txBox="1"/>
          <p:nvPr/>
        </p:nvSpPr>
        <p:spPr>
          <a:xfrm>
            <a:off x="1097280" y="10799059"/>
            <a:ext cx="14660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Materiais e Métodos</a:t>
            </a:r>
            <a:endParaRPr lang="en-US" sz="3472" dirty="0"/>
          </a:p>
        </p:txBody>
      </p:sp>
      <p:sp>
        <p:nvSpPr>
          <p:cNvPr id="19" name="Shape 15"/>
          <p:cNvSpPr/>
          <p:nvPr/>
        </p:nvSpPr>
        <p:spPr>
          <a:xfrm>
            <a:off x="914400" y="11503147"/>
            <a:ext cx="7296912" cy="2907792"/>
          </a:xfrm>
          <a:prstGeom prst="roundRect">
            <a:avLst>
              <a:gd name="adj" fmla="val 2516"/>
            </a:avLst>
          </a:prstGeom>
          <a:solidFill>
            <a:srgbClr val="F5FAFB"/>
          </a:solidFill>
          <a:ln w="12700">
            <a:solidFill>
              <a:srgbClr val="D7E4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 txBox="1"/>
          <p:nvPr/>
        </p:nvSpPr>
        <p:spPr>
          <a:xfrm>
            <a:off x="1234440" y="11731747"/>
            <a:ext cx="6793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4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 ABC</a:t>
            </a:r>
            <a:endParaRPr lang="en-US" sz="2604" dirty="0"/>
          </a:p>
        </p:txBody>
      </p:sp>
      <p:sp>
        <p:nvSpPr>
          <p:cNvPr id="22" name="Text 18"/>
          <p:cNvSpPr txBox="1"/>
          <p:nvPr/>
        </p:nvSpPr>
        <p:spPr>
          <a:xfrm>
            <a:off x="1234440" y="12280387"/>
            <a:ext cx="6793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68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3.675 × 54</a:t>
            </a:r>
            <a:endParaRPr lang="en-US" sz="3968" dirty="0"/>
          </a:p>
        </p:txBody>
      </p:sp>
      <p:sp>
        <p:nvSpPr>
          <p:cNvPr id="23" name="Text 19"/>
          <p:cNvSpPr txBox="1"/>
          <p:nvPr/>
        </p:nvSpPr>
        <p:spPr>
          <a:xfrm>
            <a:off x="1234440" y="13165831"/>
            <a:ext cx="6793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Produtividade de soja (kg/ha) [4]</a:t>
            </a:r>
            <a:endParaRPr lang="en-US" sz="2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300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folds • métrica R²</a:t>
            </a:r>
            <a:endParaRPr lang="en-US" sz="2300" dirty="0"/>
          </a:p>
        </p:txBody>
      </p:sp>
      <p:sp>
        <p:nvSpPr>
          <p:cNvPr id="24" name="Shape 20"/>
          <p:cNvSpPr/>
          <p:nvPr/>
        </p:nvSpPr>
        <p:spPr>
          <a:xfrm>
            <a:off x="8558784" y="11503147"/>
            <a:ext cx="7379208" cy="2907792"/>
          </a:xfrm>
          <a:prstGeom prst="roundRect">
            <a:avLst>
              <a:gd name="adj" fmla="val 2516"/>
            </a:avLst>
          </a:prstGeom>
          <a:solidFill>
            <a:srgbClr val="F5FAFB"/>
          </a:solidFill>
          <a:ln w="12700">
            <a:solidFill>
              <a:srgbClr val="D7E4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2"/>
          <p:cNvSpPr txBox="1"/>
          <p:nvPr/>
        </p:nvSpPr>
        <p:spPr>
          <a:xfrm>
            <a:off x="8878824" y="11731747"/>
            <a:ext cx="687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4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Imagens hiperespectrais</a:t>
            </a:r>
            <a:endParaRPr lang="en-US" sz="2604" dirty="0"/>
          </a:p>
        </p:txBody>
      </p:sp>
      <p:sp>
        <p:nvSpPr>
          <p:cNvPr id="27" name="Text 23"/>
          <p:cNvSpPr txBox="1"/>
          <p:nvPr/>
        </p:nvSpPr>
        <p:spPr>
          <a:xfrm>
            <a:off x="8878824" y="12280387"/>
            <a:ext cx="6876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68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1.935 × 1.933</a:t>
            </a:r>
            <a:endParaRPr lang="en-US" sz="3968" dirty="0"/>
          </a:p>
        </p:txBody>
      </p:sp>
      <p:sp>
        <p:nvSpPr>
          <p:cNvPr id="28" name="Text 24"/>
          <p:cNvSpPr txBox="1"/>
          <p:nvPr/>
        </p:nvSpPr>
        <p:spPr>
          <a:xfrm>
            <a:off x="8892540" y="13143733"/>
            <a:ext cx="68762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Controle, lagarta e inseto [3]</a:t>
            </a:r>
            <a:endParaRPr lang="en-US" sz="2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300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folds • métrica: acurácia</a:t>
            </a:r>
            <a:endParaRPr lang="en-US" sz="2300" dirty="0"/>
          </a:p>
        </p:txBody>
      </p:sp>
      <p:sp>
        <p:nvSpPr>
          <p:cNvPr id="29" name="Text 25"/>
          <p:cNvSpPr txBox="1"/>
          <p:nvPr/>
        </p:nvSpPr>
        <p:spPr>
          <a:xfrm>
            <a:off x="914400" y="14676115"/>
            <a:ext cx="15026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80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experimental</a:t>
            </a:r>
            <a:endParaRPr lang="en-US" sz="2480" dirty="0"/>
          </a:p>
        </p:txBody>
      </p:sp>
      <p:sp>
        <p:nvSpPr>
          <p:cNvPr id="30" name="Shape 26"/>
          <p:cNvSpPr/>
          <p:nvPr/>
        </p:nvSpPr>
        <p:spPr>
          <a:xfrm>
            <a:off x="914400" y="15197323"/>
            <a:ext cx="2542032" cy="1508760"/>
          </a:xfrm>
          <a:prstGeom prst="roundRect">
            <a:avLst>
              <a:gd name="adj" fmla="val 4848"/>
            </a:avLst>
          </a:prstGeom>
          <a:solidFill>
            <a:srgbClr val="F5FAFB"/>
          </a:solidFill>
          <a:ln w="12700">
            <a:solidFill>
              <a:srgbClr val="D7E4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7"/>
          <p:cNvSpPr txBox="1"/>
          <p:nvPr/>
        </p:nvSpPr>
        <p:spPr>
          <a:xfrm>
            <a:off x="1033272" y="1531619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8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8" dirty="0"/>
          </a:p>
        </p:txBody>
      </p:sp>
      <p:sp>
        <p:nvSpPr>
          <p:cNvPr id="32" name="Text 28"/>
          <p:cNvSpPr txBox="1"/>
          <p:nvPr/>
        </p:nvSpPr>
        <p:spPr>
          <a:xfrm>
            <a:off x="1097280" y="15764251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70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</a:t>
            </a:r>
            <a:endParaRPr lang="en-US" sz="217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170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dados</a:t>
            </a:r>
            <a:endParaRPr lang="en-US" sz="2170" dirty="0"/>
          </a:p>
        </p:txBody>
      </p:sp>
      <p:sp>
        <p:nvSpPr>
          <p:cNvPr id="33" name="Shape 29"/>
          <p:cNvSpPr/>
          <p:nvPr/>
        </p:nvSpPr>
        <p:spPr>
          <a:xfrm>
            <a:off x="3520440" y="15700243"/>
            <a:ext cx="283464" cy="493776"/>
          </a:xfrm>
          <a:prstGeom prst="chevron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0"/>
          <p:cNvSpPr/>
          <p:nvPr/>
        </p:nvSpPr>
        <p:spPr>
          <a:xfrm>
            <a:off x="3877056" y="15197323"/>
            <a:ext cx="2542032" cy="1508760"/>
          </a:xfrm>
          <a:prstGeom prst="roundRect">
            <a:avLst>
              <a:gd name="adj" fmla="val 4848"/>
            </a:avLst>
          </a:prstGeom>
          <a:solidFill>
            <a:srgbClr val="F5FAFB"/>
          </a:solidFill>
          <a:ln w="12700">
            <a:solidFill>
              <a:srgbClr val="D7E4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1"/>
          <p:cNvSpPr txBox="1"/>
          <p:nvPr/>
        </p:nvSpPr>
        <p:spPr>
          <a:xfrm>
            <a:off x="3995928" y="1531619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8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8" dirty="0"/>
          </a:p>
        </p:txBody>
      </p:sp>
      <p:sp>
        <p:nvSpPr>
          <p:cNvPr id="36" name="Text 32"/>
          <p:cNvSpPr txBox="1"/>
          <p:nvPr/>
        </p:nvSpPr>
        <p:spPr>
          <a:xfrm>
            <a:off x="4059936" y="15745963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70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Treinar</a:t>
            </a:r>
            <a:endParaRPr lang="en-US" sz="217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170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modelos</a:t>
            </a:r>
            <a:endParaRPr lang="en-US" sz="2170" dirty="0"/>
          </a:p>
        </p:txBody>
      </p:sp>
      <p:sp>
        <p:nvSpPr>
          <p:cNvPr id="37" name="Shape 33"/>
          <p:cNvSpPr/>
          <p:nvPr/>
        </p:nvSpPr>
        <p:spPr>
          <a:xfrm>
            <a:off x="6483096" y="15700243"/>
            <a:ext cx="283464" cy="493776"/>
          </a:xfrm>
          <a:prstGeom prst="chevron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4"/>
          <p:cNvSpPr/>
          <p:nvPr/>
        </p:nvSpPr>
        <p:spPr>
          <a:xfrm>
            <a:off x="6839712" y="15197323"/>
            <a:ext cx="2542032" cy="1508760"/>
          </a:xfrm>
          <a:prstGeom prst="roundRect">
            <a:avLst>
              <a:gd name="adj" fmla="val 4848"/>
            </a:avLst>
          </a:prstGeom>
          <a:solidFill>
            <a:srgbClr val="0B86A6"/>
          </a:solidFill>
          <a:ln w="12700">
            <a:solidFill>
              <a:srgbClr val="0B8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5"/>
          <p:cNvSpPr txBox="1"/>
          <p:nvPr/>
        </p:nvSpPr>
        <p:spPr>
          <a:xfrm>
            <a:off x="6958584" y="1531619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8" dirty="0"/>
          </a:p>
        </p:txBody>
      </p:sp>
      <p:sp>
        <p:nvSpPr>
          <p:cNvPr id="40" name="Text 36"/>
          <p:cNvSpPr txBox="1"/>
          <p:nvPr/>
        </p:nvSpPr>
        <p:spPr>
          <a:xfrm>
            <a:off x="7022592" y="15764251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</a:t>
            </a:r>
            <a:endParaRPr lang="en-US" sz="217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1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GAwLL</a:t>
            </a:r>
            <a:endParaRPr lang="en-US" sz="2170" dirty="0"/>
          </a:p>
        </p:txBody>
      </p:sp>
      <p:sp>
        <p:nvSpPr>
          <p:cNvPr id="41" name="Shape 37"/>
          <p:cNvSpPr/>
          <p:nvPr/>
        </p:nvSpPr>
        <p:spPr>
          <a:xfrm>
            <a:off x="9445752" y="15700243"/>
            <a:ext cx="283464" cy="493776"/>
          </a:xfrm>
          <a:prstGeom prst="chevron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38"/>
          <p:cNvSpPr/>
          <p:nvPr/>
        </p:nvSpPr>
        <p:spPr>
          <a:xfrm>
            <a:off x="9802368" y="15197323"/>
            <a:ext cx="2542032" cy="1508760"/>
          </a:xfrm>
          <a:prstGeom prst="roundRect">
            <a:avLst>
              <a:gd name="adj" fmla="val 4848"/>
            </a:avLst>
          </a:prstGeom>
          <a:solidFill>
            <a:srgbClr val="F5FAFB"/>
          </a:solidFill>
          <a:ln w="12700">
            <a:solidFill>
              <a:srgbClr val="D7E4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39"/>
          <p:cNvSpPr txBox="1"/>
          <p:nvPr/>
        </p:nvSpPr>
        <p:spPr>
          <a:xfrm>
            <a:off x="9921240" y="1531619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8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8" dirty="0"/>
          </a:p>
        </p:txBody>
      </p:sp>
      <p:sp>
        <p:nvSpPr>
          <p:cNvPr id="44" name="Text 40"/>
          <p:cNvSpPr txBox="1"/>
          <p:nvPr/>
        </p:nvSpPr>
        <p:spPr>
          <a:xfrm>
            <a:off x="9985248" y="15764251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70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Selecionar</a:t>
            </a:r>
            <a:endParaRPr lang="en-US" sz="217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170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</a:t>
            </a:r>
            <a:endParaRPr lang="en-US" sz="2170" dirty="0"/>
          </a:p>
        </p:txBody>
      </p:sp>
      <p:sp>
        <p:nvSpPr>
          <p:cNvPr id="45" name="Shape 41"/>
          <p:cNvSpPr/>
          <p:nvPr/>
        </p:nvSpPr>
        <p:spPr>
          <a:xfrm>
            <a:off x="12408408" y="15700243"/>
            <a:ext cx="283464" cy="493776"/>
          </a:xfrm>
          <a:prstGeom prst="chevron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2"/>
          <p:cNvSpPr/>
          <p:nvPr/>
        </p:nvSpPr>
        <p:spPr>
          <a:xfrm>
            <a:off x="12765024" y="15197323"/>
            <a:ext cx="2542032" cy="1508760"/>
          </a:xfrm>
          <a:prstGeom prst="roundRect">
            <a:avLst>
              <a:gd name="adj" fmla="val 4848"/>
            </a:avLst>
          </a:prstGeom>
          <a:solidFill>
            <a:srgbClr val="F5FAFB"/>
          </a:solidFill>
          <a:ln w="12700">
            <a:solidFill>
              <a:srgbClr val="D7E4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3"/>
          <p:cNvSpPr txBox="1"/>
          <p:nvPr/>
        </p:nvSpPr>
        <p:spPr>
          <a:xfrm>
            <a:off x="12883896" y="1531619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8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8" dirty="0"/>
          </a:p>
        </p:txBody>
      </p:sp>
      <p:sp>
        <p:nvSpPr>
          <p:cNvPr id="48" name="Text 44"/>
          <p:cNvSpPr txBox="1"/>
          <p:nvPr/>
        </p:nvSpPr>
        <p:spPr>
          <a:xfrm>
            <a:off x="12947904" y="15764251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70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Reavaliar</a:t>
            </a:r>
            <a:endParaRPr lang="en-US" sz="217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170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comparar</a:t>
            </a:r>
            <a:endParaRPr lang="en-US" sz="2170" dirty="0"/>
          </a:p>
        </p:txBody>
      </p:sp>
      <p:sp>
        <p:nvSpPr>
          <p:cNvPr id="49" name="Shape 45"/>
          <p:cNvSpPr/>
          <p:nvPr/>
        </p:nvSpPr>
        <p:spPr>
          <a:xfrm>
            <a:off x="914400" y="17026123"/>
            <a:ext cx="15026335" cy="4315968"/>
          </a:xfrm>
          <a:prstGeom prst="roundRect">
            <a:avLst>
              <a:gd name="adj" fmla="val 1695"/>
            </a:avLst>
          </a:prstGeom>
          <a:solidFill>
            <a:srgbClr val="F5FAFB"/>
          </a:solidFill>
          <a:ln w="12700">
            <a:solidFill>
              <a:srgbClr val="D7E4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6"/>
          <p:cNvSpPr txBox="1"/>
          <p:nvPr/>
        </p:nvSpPr>
        <p:spPr>
          <a:xfrm>
            <a:off x="1234440" y="17282155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6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</a:t>
            </a:r>
            <a:endParaRPr lang="en-US" sz="2356" dirty="0"/>
          </a:p>
        </p:txBody>
      </p:sp>
      <p:sp>
        <p:nvSpPr>
          <p:cNvPr id="51" name="Text 47"/>
          <p:cNvSpPr txBox="1"/>
          <p:nvPr/>
        </p:nvSpPr>
        <p:spPr>
          <a:xfrm>
            <a:off x="1234440" y="17721067"/>
            <a:ext cx="14386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94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 •  Árvore de decisão  •  Floresta aleatória  •  KNN</a:t>
            </a:r>
            <a:endParaRPr lang="en-US" sz="2294" dirty="0"/>
          </a:p>
        </p:txBody>
      </p:sp>
      <p:sp>
        <p:nvSpPr>
          <p:cNvPr id="52" name="Shape 48"/>
          <p:cNvSpPr/>
          <p:nvPr/>
        </p:nvSpPr>
        <p:spPr>
          <a:xfrm>
            <a:off x="1234440" y="18306283"/>
            <a:ext cx="14386255" cy="0"/>
          </a:xfrm>
          <a:prstGeom prst="line">
            <a:avLst/>
          </a:prstGeom>
          <a:noFill/>
          <a:ln w="12700">
            <a:solidFill>
              <a:srgbClr val="D7E4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49"/>
          <p:cNvSpPr txBox="1"/>
          <p:nvPr/>
        </p:nvSpPr>
        <p:spPr>
          <a:xfrm>
            <a:off x="1234440" y="18544027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6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GAwLL</a:t>
            </a:r>
            <a:endParaRPr lang="en-US" sz="2356" dirty="0"/>
          </a:p>
        </p:txBody>
      </p:sp>
      <p:sp>
        <p:nvSpPr>
          <p:cNvPr id="54" name="Text 50"/>
          <p:cNvSpPr txBox="1"/>
          <p:nvPr/>
        </p:nvSpPr>
        <p:spPr>
          <a:xfrm>
            <a:off x="1234440" y="18982939"/>
            <a:ext cx="143862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94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População = 100  •  100 gerações  •  crossover = 0,8  •  mutação = 0,3</a:t>
            </a:r>
            <a:endParaRPr lang="en-US" sz="2294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294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Seleção por roleta + elitismo [5]</a:t>
            </a:r>
            <a:endParaRPr lang="en-US" sz="2294" dirty="0"/>
          </a:p>
        </p:txBody>
      </p:sp>
      <p:sp>
        <p:nvSpPr>
          <p:cNvPr id="55" name="Text 51"/>
          <p:cNvSpPr txBox="1"/>
          <p:nvPr/>
        </p:nvSpPr>
        <p:spPr>
          <a:xfrm>
            <a:off x="1234440" y="19997923"/>
            <a:ext cx="14386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976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 = 0,9 · m(x) + 0,1 · (1 − Σxᵢ/N)</a:t>
            </a:r>
            <a:endParaRPr lang="en-US" sz="2976" dirty="0"/>
          </a:p>
        </p:txBody>
      </p:sp>
      <p:sp>
        <p:nvSpPr>
          <p:cNvPr id="56" name="Shape 52"/>
          <p:cNvSpPr/>
          <p:nvPr/>
        </p:nvSpPr>
        <p:spPr>
          <a:xfrm>
            <a:off x="914400" y="26084596"/>
            <a:ext cx="15026335" cy="621792"/>
          </a:xfrm>
          <a:prstGeom prst="rect">
            <a:avLst/>
          </a:prstGeom>
          <a:solidFill>
            <a:srgbClr val="0B86A6"/>
          </a:solidFill>
          <a:ln w="12700">
            <a:solidFill>
              <a:srgbClr val="0B8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53"/>
          <p:cNvSpPr txBox="1"/>
          <p:nvPr/>
        </p:nvSpPr>
        <p:spPr>
          <a:xfrm>
            <a:off x="1097280" y="26112028"/>
            <a:ext cx="14660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</a:t>
            </a:r>
            <a:endParaRPr lang="en-US" sz="3472" dirty="0"/>
          </a:p>
        </p:txBody>
      </p:sp>
      <p:sp>
        <p:nvSpPr>
          <p:cNvPr id="58" name="Text 54"/>
          <p:cNvSpPr txBox="1"/>
          <p:nvPr/>
        </p:nvSpPr>
        <p:spPr>
          <a:xfrm>
            <a:off x="1005840" y="26843546"/>
            <a:ext cx="14843455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experimentos foram implementados em Python com Scikit-learn, Pandas, NumPy e Matplotlib. Cada modelo foi avaliado inicialmente com todos os atributos e, em seguida, com o subconjunto selecionado pelo GAwLL. Também foram estimadas a importância e a interação entre os atributos.</a:t>
            </a:r>
            <a:endParaRPr lang="en-US" sz="2480" dirty="0"/>
          </a:p>
        </p:txBody>
      </p:sp>
      <p:sp>
        <p:nvSpPr>
          <p:cNvPr id="59" name="Shape 55"/>
          <p:cNvSpPr/>
          <p:nvPr/>
        </p:nvSpPr>
        <p:spPr>
          <a:xfrm>
            <a:off x="914400" y="28415135"/>
            <a:ext cx="15026335" cy="621792"/>
          </a:xfrm>
          <a:prstGeom prst="rect">
            <a:avLst/>
          </a:prstGeom>
          <a:solidFill>
            <a:srgbClr val="0B86A6"/>
          </a:solidFill>
          <a:ln w="12700">
            <a:solidFill>
              <a:srgbClr val="0B8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6"/>
          <p:cNvSpPr txBox="1"/>
          <p:nvPr/>
        </p:nvSpPr>
        <p:spPr>
          <a:xfrm>
            <a:off x="1097280" y="28442567"/>
            <a:ext cx="14660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| Base Fundação ABC</a:t>
            </a:r>
            <a:endParaRPr lang="en-US" sz="3472" dirty="0"/>
          </a:p>
        </p:txBody>
      </p:sp>
      <p:sp>
        <p:nvSpPr>
          <p:cNvPr id="61" name="Text 57"/>
          <p:cNvSpPr txBox="1"/>
          <p:nvPr/>
        </p:nvSpPr>
        <p:spPr>
          <a:xfrm>
            <a:off x="1005840" y="29183231"/>
            <a:ext cx="148434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Fundação ABC, a comparação utiliza R² médio em validação cruzada com 10 folds. A seleção aumentou o R² de três dos quatro modelos e reduziu o conjunto de 54 para, em média, 13 atributos.</a:t>
            </a:r>
            <a:endParaRPr lang="en-US" sz="2480" dirty="0"/>
          </a:p>
        </p:txBody>
      </p:sp>
      <p:sp>
        <p:nvSpPr>
          <p:cNvPr id="62" name="Text 58"/>
          <p:cNvSpPr txBox="1"/>
          <p:nvPr/>
        </p:nvSpPr>
        <p:spPr>
          <a:xfrm>
            <a:off x="921258" y="301146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6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atributos</a:t>
            </a:r>
            <a:endParaRPr lang="en-US" sz="2356" dirty="0"/>
          </a:p>
        </p:txBody>
      </p:sp>
      <p:sp>
        <p:nvSpPr>
          <p:cNvPr id="63" name="Text 59"/>
          <p:cNvSpPr txBox="1"/>
          <p:nvPr/>
        </p:nvSpPr>
        <p:spPr>
          <a:xfrm>
            <a:off x="8622792" y="301146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6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a seleção pelo GAwLL</a:t>
            </a:r>
            <a:endParaRPr lang="en-US" sz="2356" dirty="0"/>
          </a:p>
        </p:txBody>
      </p:sp>
      <p:pic>
        <p:nvPicPr>
          <p:cNvPr id="64" name="Image 2" descr="/home/daniel/siicusp_poster/assets/abc-tod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90" y="30459581"/>
            <a:ext cx="7315200" cy="4112401"/>
          </a:xfrm>
          <a:prstGeom prst="rect">
            <a:avLst/>
          </a:prstGeom>
        </p:spPr>
      </p:pic>
      <p:pic>
        <p:nvPicPr>
          <p:cNvPr id="65" name="Image 3" descr="/home/daniel/siicusp_poster/assets/abc-selecionad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4234" y="30459581"/>
            <a:ext cx="6823948" cy="4043821"/>
          </a:xfrm>
          <a:prstGeom prst="rect">
            <a:avLst/>
          </a:prstGeom>
        </p:spPr>
      </p:pic>
      <p:sp>
        <p:nvSpPr>
          <p:cNvPr id="66" name="Text 60"/>
          <p:cNvSpPr txBox="1"/>
          <p:nvPr/>
        </p:nvSpPr>
        <p:spPr>
          <a:xfrm>
            <a:off x="914400" y="35048665"/>
            <a:ext cx="150263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4" b="1" dirty="0" err="1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</a:t>
            </a:r>
            <a:r>
              <a:rPr lang="en-US" sz="2604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R² </a:t>
            </a:r>
            <a:r>
              <a:rPr lang="en-US" sz="2604" b="1" dirty="0" err="1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</a:t>
            </a:r>
            <a:endParaRPr lang="en-US" sz="2604" dirty="0"/>
          </a:p>
        </p:txBody>
      </p:sp>
      <p:sp>
        <p:nvSpPr>
          <p:cNvPr id="68" name="Shape 62"/>
          <p:cNvSpPr/>
          <p:nvPr/>
        </p:nvSpPr>
        <p:spPr>
          <a:xfrm>
            <a:off x="914400" y="35553650"/>
            <a:ext cx="15026335" cy="5138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3"/>
          <p:cNvSpPr/>
          <p:nvPr/>
        </p:nvSpPr>
        <p:spPr>
          <a:xfrm>
            <a:off x="914400" y="35553650"/>
            <a:ext cx="15026335" cy="658368"/>
          </a:xfrm>
          <a:prstGeom prst="rect">
            <a:avLst/>
          </a:prstGeom>
          <a:solidFill>
            <a:srgbClr val="EAF6F8"/>
          </a:solidFill>
          <a:ln w="12700">
            <a:solidFill>
              <a:srgbClr val="D7E4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Text 64"/>
          <p:cNvSpPr txBox="1"/>
          <p:nvPr/>
        </p:nvSpPr>
        <p:spPr>
          <a:xfrm>
            <a:off x="1234440" y="3569995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32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2232" dirty="0"/>
          </a:p>
        </p:txBody>
      </p:sp>
      <p:sp>
        <p:nvSpPr>
          <p:cNvPr id="71" name="Text 65"/>
          <p:cNvSpPr txBox="1"/>
          <p:nvPr/>
        </p:nvSpPr>
        <p:spPr>
          <a:xfrm>
            <a:off x="5806440" y="3569995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32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2232" dirty="0"/>
          </a:p>
        </p:txBody>
      </p:sp>
      <p:sp>
        <p:nvSpPr>
          <p:cNvPr id="72" name="Text 66"/>
          <p:cNvSpPr txBox="1"/>
          <p:nvPr/>
        </p:nvSpPr>
        <p:spPr>
          <a:xfrm>
            <a:off x="8458200" y="3569995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32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2232" dirty="0"/>
          </a:p>
        </p:txBody>
      </p:sp>
      <p:sp>
        <p:nvSpPr>
          <p:cNvPr id="73" name="Text 67"/>
          <p:cNvSpPr txBox="1"/>
          <p:nvPr/>
        </p:nvSpPr>
        <p:spPr>
          <a:xfrm>
            <a:off x="11201400" y="3569995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32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</a:t>
            </a:r>
            <a:endParaRPr lang="en-US" sz="2232" dirty="0"/>
          </a:p>
        </p:txBody>
      </p:sp>
      <p:sp>
        <p:nvSpPr>
          <p:cNvPr id="74" name="Text 68"/>
          <p:cNvSpPr txBox="1"/>
          <p:nvPr/>
        </p:nvSpPr>
        <p:spPr>
          <a:xfrm>
            <a:off x="1234440" y="3636746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6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Floresta aleatória</a:t>
            </a:r>
            <a:endParaRPr lang="en-US" sz="2356" dirty="0"/>
          </a:p>
        </p:txBody>
      </p:sp>
      <p:sp>
        <p:nvSpPr>
          <p:cNvPr id="75" name="Text 69"/>
          <p:cNvSpPr txBox="1"/>
          <p:nvPr/>
        </p:nvSpPr>
        <p:spPr>
          <a:xfrm>
            <a:off x="5806440" y="3636746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4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0,58</a:t>
            </a:r>
            <a:endParaRPr lang="en-US" sz="2604" dirty="0"/>
          </a:p>
        </p:txBody>
      </p:sp>
      <p:sp>
        <p:nvSpPr>
          <p:cNvPr id="76" name="Text 70"/>
          <p:cNvSpPr txBox="1"/>
          <p:nvPr/>
        </p:nvSpPr>
        <p:spPr>
          <a:xfrm>
            <a:off x="7818120" y="3636746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80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80" dirty="0"/>
          </a:p>
        </p:txBody>
      </p:sp>
      <p:sp>
        <p:nvSpPr>
          <p:cNvPr id="77" name="Text 71"/>
          <p:cNvSpPr txBox="1"/>
          <p:nvPr/>
        </p:nvSpPr>
        <p:spPr>
          <a:xfrm>
            <a:off x="8458200" y="3636746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4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0,64</a:t>
            </a:r>
            <a:endParaRPr lang="en-US" sz="2604" dirty="0"/>
          </a:p>
        </p:txBody>
      </p:sp>
      <p:sp>
        <p:nvSpPr>
          <p:cNvPr id="78" name="Text 72"/>
          <p:cNvSpPr txBox="1"/>
          <p:nvPr/>
        </p:nvSpPr>
        <p:spPr>
          <a:xfrm>
            <a:off x="11201400" y="3636746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4" b="1" dirty="0">
                <a:solidFill>
                  <a:srgbClr val="0B8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+0,06</a:t>
            </a:r>
            <a:endParaRPr lang="en-US" sz="2604" dirty="0"/>
          </a:p>
        </p:txBody>
      </p:sp>
      <p:sp>
        <p:nvSpPr>
          <p:cNvPr id="79" name="Shape 73"/>
          <p:cNvSpPr/>
          <p:nvPr/>
        </p:nvSpPr>
        <p:spPr>
          <a:xfrm>
            <a:off x="914400" y="37345874"/>
            <a:ext cx="15026335" cy="98755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Text 74"/>
          <p:cNvSpPr txBox="1"/>
          <p:nvPr/>
        </p:nvSpPr>
        <p:spPr>
          <a:xfrm>
            <a:off x="1234440" y="3741902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6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</a:t>
            </a:r>
            <a:endParaRPr lang="en-US" sz="2356" dirty="0"/>
          </a:p>
        </p:txBody>
      </p:sp>
      <p:sp>
        <p:nvSpPr>
          <p:cNvPr id="81" name="Text 75"/>
          <p:cNvSpPr txBox="1"/>
          <p:nvPr/>
        </p:nvSpPr>
        <p:spPr>
          <a:xfrm>
            <a:off x="5806440" y="3741902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4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0,25</a:t>
            </a:r>
            <a:endParaRPr lang="en-US" sz="2604" dirty="0"/>
          </a:p>
        </p:txBody>
      </p:sp>
      <p:sp>
        <p:nvSpPr>
          <p:cNvPr id="82" name="Text 76"/>
          <p:cNvSpPr txBox="1"/>
          <p:nvPr/>
        </p:nvSpPr>
        <p:spPr>
          <a:xfrm>
            <a:off x="7818120" y="3741902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80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80" dirty="0"/>
          </a:p>
        </p:txBody>
      </p:sp>
      <p:sp>
        <p:nvSpPr>
          <p:cNvPr id="83" name="Text 77"/>
          <p:cNvSpPr txBox="1"/>
          <p:nvPr/>
        </p:nvSpPr>
        <p:spPr>
          <a:xfrm>
            <a:off x="8458200" y="3741902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4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0,49</a:t>
            </a:r>
            <a:endParaRPr lang="en-US" sz="2604" dirty="0"/>
          </a:p>
        </p:txBody>
      </p:sp>
      <p:sp>
        <p:nvSpPr>
          <p:cNvPr id="84" name="Text 78"/>
          <p:cNvSpPr txBox="1"/>
          <p:nvPr/>
        </p:nvSpPr>
        <p:spPr>
          <a:xfrm>
            <a:off x="11201400" y="3741902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4" b="1" dirty="0">
                <a:solidFill>
                  <a:srgbClr val="0B8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+0,24</a:t>
            </a:r>
            <a:endParaRPr lang="en-US" sz="2604" dirty="0"/>
          </a:p>
        </p:txBody>
      </p:sp>
      <p:sp>
        <p:nvSpPr>
          <p:cNvPr id="85" name="Text 79"/>
          <p:cNvSpPr txBox="1"/>
          <p:nvPr/>
        </p:nvSpPr>
        <p:spPr>
          <a:xfrm>
            <a:off x="1234440" y="3847058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6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Árvore de decisão</a:t>
            </a:r>
            <a:endParaRPr lang="en-US" sz="2356" dirty="0"/>
          </a:p>
        </p:txBody>
      </p:sp>
      <p:sp>
        <p:nvSpPr>
          <p:cNvPr id="86" name="Text 80"/>
          <p:cNvSpPr txBox="1"/>
          <p:nvPr/>
        </p:nvSpPr>
        <p:spPr>
          <a:xfrm>
            <a:off x="5806440" y="3847058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4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0,26</a:t>
            </a:r>
            <a:endParaRPr lang="en-US" sz="2604" dirty="0"/>
          </a:p>
        </p:txBody>
      </p:sp>
      <p:sp>
        <p:nvSpPr>
          <p:cNvPr id="87" name="Text 81"/>
          <p:cNvSpPr txBox="1"/>
          <p:nvPr/>
        </p:nvSpPr>
        <p:spPr>
          <a:xfrm>
            <a:off x="7818120" y="3847058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80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80" dirty="0"/>
          </a:p>
        </p:txBody>
      </p:sp>
      <p:sp>
        <p:nvSpPr>
          <p:cNvPr id="88" name="Text 82"/>
          <p:cNvSpPr txBox="1"/>
          <p:nvPr/>
        </p:nvSpPr>
        <p:spPr>
          <a:xfrm>
            <a:off x="8458200" y="3847058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4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0,25</a:t>
            </a:r>
            <a:endParaRPr lang="en-US" sz="2604" dirty="0"/>
          </a:p>
        </p:txBody>
      </p:sp>
      <p:sp>
        <p:nvSpPr>
          <p:cNvPr id="89" name="Text 83"/>
          <p:cNvSpPr txBox="1"/>
          <p:nvPr/>
        </p:nvSpPr>
        <p:spPr>
          <a:xfrm>
            <a:off x="11201400" y="3847058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4" b="1" dirty="0">
                <a:solidFill>
                  <a:srgbClr val="FFB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−0,01</a:t>
            </a:r>
            <a:endParaRPr lang="en-US" sz="2604" dirty="0"/>
          </a:p>
        </p:txBody>
      </p:sp>
      <p:sp>
        <p:nvSpPr>
          <p:cNvPr id="90" name="Shape 84"/>
          <p:cNvSpPr/>
          <p:nvPr/>
        </p:nvSpPr>
        <p:spPr>
          <a:xfrm>
            <a:off x="914400" y="39448994"/>
            <a:ext cx="15026335" cy="98755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1" name="Text 85"/>
          <p:cNvSpPr txBox="1"/>
          <p:nvPr/>
        </p:nvSpPr>
        <p:spPr>
          <a:xfrm>
            <a:off x="1234440" y="3952214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6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2356" dirty="0"/>
          </a:p>
        </p:txBody>
      </p:sp>
      <p:sp>
        <p:nvSpPr>
          <p:cNvPr id="92" name="Text 86"/>
          <p:cNvSpPr txBox="1"/>
          <p:nvPr/>
        </p:nvSpPr>
        <p:spPr>
          <a:xfrm>
            <a:off x="5806440" y="3952214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4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0,10</a:t>
            </a:r>
            <a:endParaRPr lang="en-US" sz="2604" dirty="0"/>
          </a:p>
        </p:txBody>
      </p:sp>
      <p:sp>
        <p:nvSpPr>
          <p:cNvPr id="93" name="Text 87"/>
          <p:cNvSpPr txBox="1"/>
          <p:nvPr/>
        </p:nvSpPr>
        <p:spPr>
          <a:xfrm>
            <a:off x="7818120" y="3952214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80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80" dirty="0"/>
          </a:p>
        </p:txBody>
      </p:sp>
      <p:sp>
        <p:nvSpPr>
          <p:cNvPr id="94" name="Text 88"/>
          <p:cNvSpPr txBox="1"/>
          <p:nvPr/>
        </p:nvSpPr>
        <p:spPr>
          <a:xfrm>
            <a:off x="8458200" y="3952214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4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0,45</a:t>
            </a:r>
            <a:endParaRPr lang="en-US" sz="2604" dirty="0"/>
          </a:p>
        </p:txBody>
      </p:sp>
      <p:sp>
        <p:nvSpPr>
          <p:cNvPr id="95" name="Text 89"/>
          <p:cNvSpPr txBox="1"/>
          <p:nvPr/>
        </p:nvSpPr>
        <p:spPr>
          <a:xfrm>
            <a:off x="11201400" y="3952214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4" b="1" dirty="0">
                <a:solidFill>
                  <a:srgbClr val="0B8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+0,35</a:t>
            </a:r>
            <a:endParaRPr lang="en-US" sz="2604" dirty="0"/>
          </a:p>
        </p:txBody>
      </p:sp>
      <p:sp>
        <p:nvSpPr>
          <p:cNvPr id="97" name="Text 91"/>
          <p:cNvSpPr txBox="1"/>
          <p:nvPr/>
        </p:nvSpPr>
        <p:spPr>
          <a:xfrm>
            <a:off x="1234440" y="41170131"/>
            <a:ext cx="14386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604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Atributos: 54 → 12–15 por modelo (média = 13; redução ≈ 76%)</a:t>
            </a:r>
            <a:endParaRPr lang="en-US" sz="2604" dirty="0"/>
          </a:p>
        </p:txBody>
      </p:sp>
      <p:sp>
        <p:nvSpPr>
          <p:cNvPr id="98" name="Text 92"/>
          <p:cNvSpPr txBox="1"/>
          <p:nvPr/>
        </p:nvSpPr>
        <p:spPr>
          <a:xfrm>
            <a:off x="1234440" y="41727915"/>
            <a:ext cx="14386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94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MLP e o KNN apresentaram os maiores ganhos de R².</a:t>
            </a:r>
            <a:endParaRPr lang="en-US" sz="2294" dirty="0"/>
          </a:p>
        </p:txBody>
      </p:sp>
      <p:sp>
        <p:nvSpPr>
          <p:cNvPr id="99" name="Shape 93"/>
          <p:cNvSpPr/>
          <p:nvPr/>
        </p:nvSpPr>
        <p:spPr>
          <a:xfrm>
            <a:off x="16459200" y="5623560"/>
            <a:ext cx="15026335" cy="621792"/>
          </a:xfrm>
          <a:prstGeom prst="rect">
            <a:avLst/>
          </a:prstGeom>
          <a:solidFill>
            <a:srgbClr val="0B86A6"/>
          </a:solidFill>
          <a:ln w="12700">
            <a:solidFill>
              <a:srgbClr val="0B8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0" name="Text 94"/>
          <p:cNvSpPr txBox="1"/>
          <p:nvPr/>
        </p:nvSpPr>
        <p:spPr>
          <a:xfrm>
            <a:off x="16642080" y="5650992"/>
            <a:ext cx="14660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| Imagens hiperespectrais</a:t>
            </a:r>
            <a:endParaRPr lang="en-US" sz="3472" dirty="0"/>
          </a:p>
        </p:txBody>
      </p:sp>
      <p:sp>
        <p:nvSpPr>
          <p:cNvPr id="101" name="Text 95"/>
          <p:cNvSpPr txBox="1"/>
          <p:nvPr/>
        </p:nvSpPr>
        <p:spPr>
          <a:xfrm>
            <a:off x="16550640" y="6382512"/>
            <a:ext cx="148434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base hiperespectral, a comparação utiliza acurácia média em validação cruzada com 5 folds. As variações após a seleção foram pequenas, mesmo com a redução de 1.933 bandas para 871–947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80" dirty="0"/>
          </a:p>
        </p:txBody>
      </p:sp>
      <p:sp>
        <p:nvSpPr>
          <p:cNvPr id="102" name="Text 96"/>
          <p:cNvSpPr txBox="1"/>
          <p:nvPr/>
        </p:nvSpPr>
        <p:spPr>
          <a:xfrm>
            <a:off x="16459200" y="75392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6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atributos</a:t>
            </a:r>
            <a:endParaRPr lang="en-US" sz="2356" dirty="0"/>
          </a:p>
        </p:txBody>
      </p:sp>
      <p:sp>
        <p:nvSpPr>
          <p:cNvPr id="103" name="Text 97"/>
          <p:cNvSpPr txBox="1"/>
          <p:nvPr/>
        </p:nvSpPr>
        <p:spPr>
          <a:xfrm>
            <a:off x="24167592" y="76352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6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a seleção pelo GAwLL</a:t>
            </a:r>
            <a:endParaRPr lang="en-US" sz="2356" dirty="0"/>
          </a:p>
        </p:txBody>
      </p:sp>
      <p:pic>
        <p:nvPicPr>
          <p:cNvPr id="104" name="Image 4" descr="/home/daniel/siicusp_poster/assets/hiper-todo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72712" y="8028432"/>
            <a:ext cx="6888175" cy="4251960"/>
          </a:xfrm>
          <a:prstGeom prst="rect">
            <a:avLst/>
          </a:prstGeom>
        </p:spPr>
      </p:pic>
      <p:sp>
        <p:nvSpPr>
          <p:cNvPr id="106" name="Shape 98"/>
          <p:cNvSpPr/>
          <p:nvPr/>
        </p:nvSpPr>
        <p:spPr>
          <a:xfrm>
            <a:off x="16459200" y="12828270"/>
            <a:ext cx="15026335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4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7" name="Shape 99"/>
          <p:cNvSpPr/>
          <p:nvPr/>
        </p:nvSpPr>
        <p:spPr>
          <a:xfrm>
            <a:off x="16459200" y="12828270"/>
            <a:ext cx="15026335" cy="594360"/>
          </a:xfrm>
          <a:prstGeom prst="rect">
            <a:avLst/>
          </a:prstGeom>
          <a:solidFill>
            <a:srgbClr val="EAF6F8"/>
          </a:solidFill>
          <a:ln w="12700">
            <a:solidFill>
              <a:srgbClr val="D7E4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8" name="Text 100"/>
          <p:cNvSpPr txBox="1"/>
          <p:nvPr/>
        </p:nvSpPr>
        <p:spPr>
          <a:xfrm>
            <a:off x="16733520" y="1295628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70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2170" dirty="0"/>
          </a:p>
        </p:txBody>
      </p:sp>
      <p:sp>
        <p:nvSpPr>
          <p:cNvPr id="109" name="Text 101"/>
          <p:cNvSpPr txBox="1"/>
          <p:nvPr/>
        </p:nvSpPr>
        <p:spPr>
          <a:xfrm>
            <a:off x="21168360" y="1295628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70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2170" dirty="0"/>
          </a:p>
        </p:txBody>
      </p:sp>
      <p:sp>
        <p:nvSpPr>
          <p:cNvPr id="110" name="Text 102"/>
          <p:cNvSpPr txBox="1"/>
          <p:nvPr/>
        </p:nvSpPr>
        <p:spPr>
          <a:xfrm>
            <a:off x="23545800" y="1295628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70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2170" dirty="0"/>
          </a:p>
        </p:txBody>
      </p:sp>
      <p:sp>
        <p:nvSpPr>
          <p:cNvPr id="111" name="Text 103"/>
          <p:cNvSpPr txBox="1"/>
          <p:nvPr/>
        </p:nvSpPr>
        <p:spPr>
          <a:xfrm>
            <a:off x="26014680" y="1295628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70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</a:t>
            </a:r>
            <a:endParaRPr lang="en-US" sz="2170" dirty="0"/>
          </a:p>
        </p:txBody>
      </p:sp>
      <p:sp>
        <p:nvSpPr>
          <p:cNvPr id="112" name="Text 104"/>
          <p:cNvSpPr txBox="1"/>
          <p:nvPr/>
        </p:nvSpPr>
        <p:spPr>
          <a:xfrm>
            <a:off x="16733520" y="1355979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32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Floresta aleatória</a:t>
            </a:r>
            <a:endParaRPr lang="en-US" sz="2232" dirty="0"/>
          </a:p>
        </p:txBody>
      </p:sp>
      <p:sp>
        <p:nvSpPr>
          <p:cNvPr id="113" name="Text 105"/>
          <p:cNvSpPr txBox="1"/>
          <p:nvPr/>
        </p:nvSpPr>
        <p:spPr>
          <a:xfrm>
            <a:off x="21168360" y="1355979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6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0,46</a:t>
            </a:r>
            <a:endParaRPr lang="en-US" sz="2356" dirty="0"/>
          </a:p>
        </p:txBody>
      </p:sp>
      <p:sp>
        <p:nvSpPr>
          <p:cNvPr id="114" name="Text 106"/>
          <p:cNvSpPr txBox="1"/>
          <p:nvPr/>
        </p:nvSpPr>
        <p:spPr>
          <a:xfrm>
            <a:off x="22997160" y="1355979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32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32" dirty="0"/>
          </a:p>
        </p:txBody>
      </p:sp>
      <p:sp>
        <p:nvSpPr>
          <p:cNvPr id="115" name="Text 107"/>
          <p:cNvSpPr txBox="1"/>
          <p:nvPr/>
        </p:nvSpPr>
        <p:spPr>
          <a:xfrm>
            <a:off x="23545800" y="1355979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6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0,45</a:t>
            </a:r>
            <a:endParaRPr lang="en-US" sz="2356" dirty="0"/>
          </a:p>
        </p:txBody>
      </p:sp>
      <p:sp>
        <p:nvSpPr>
          <p:cNvPr id="116" name="Text 108"/>
          <p:cNvSpPr txBox="1"/>
          <p:nvPr/>
        </p:nvSpPr>
        <p:spPr>
          <a:xfrm>
            <a:off x="26014680" y="1355979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6" b="1" dirty="0">
                <a:solidFill>
                  <a:srgbClr val="FFB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−0,01</a:t>
            </a:r>
            <a:endParaRPr lang="en-US" sz="2356" dirty="0"/>
          </a:p>
        </p:txBody>
      </p:sp>
      <p:sp>
        <p:nvSpPr>
          <p:cNvPr id="117" name="Shape 109"/>
          <p:cNvSpPr/>
          <p:nvPr/>
        </p:nvSpPr>
        <p:spPr>
          <a:xfrm>
            <a:off x="16459200" y="14163294"/>
            <a:ext cx="15026335" cy="62179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8" name="Text 110"/>
          <p:cNvSpPr txBox="1"/>
          <p:nvPr/>
        </p:nvSpPr>
        <p:spPr>
          <a:xfrm>
            <a:off x="16733520" y="1421815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32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</a:t>
            </a:r>
            <a:endParaRPr lang="en-US" sz="2232" dirty="0"/>
          </a:p>
        </p:txBody>
      </p:sp>
      <p:sp>
        <p:nvSpPr>
          <p:cNvPr id="119" name="Text 111"/>
          <p:cNvSpPr txBox="1"/>
          <p:nvPr/>
        </p:nvSpPr>
        <p:spPr>
          <a:xfrm>
            <a:off x="21168360" y="1421815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6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0,41</a:t>
            </a:r>
            <a:endParaRPr lang="en-US" sz="2356" dirty="0"/>
          </a:p>
        </p:txBody>
      </p:sp>
      <p:sp>
        <p:nvSpPr>
          <p:cNvPr id="120" name="Text 112"/>
          <p:cNvSpPr txBox="1"/>
          <p:nvPr/>
        </p:nvSpPr>
        <p:spPr>
          <a:xfrm>
            <a:off x="22997160" y="1421815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32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32" dirty="0"/>
          </a:p>
        </p:txBody>
      </p:sp>
      <p:sp>
        <p:nvSpPr>
          <p:cNvPr id="121" name="Text 113"/>
          <p:cNvSpPr txBox="1"/>
          <p:nvPr/>
        </p:nvSpPr>
        <p:spPr>
          <a:xfrm>
            <a:off x="23545800" y="1421815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6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0,40</a:t>
            </a:r>
            <a:endParaRPr lang="en-US" sz="2356" dirty="0"/>
          </a:p>
        </p:txBody>
      </p:sp>
      <p:sp>
        <p:nvSpPr>
          <p:cNvPr id="122" name="Text 114"/>
          <p:cNvSpPr txBox="1"/>
          <p:nvPr/>
        </p:nvSpPr>
        <p:spPr>
          <a:xfrm>
            <a:off x="26014680" y="1421815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6" b="1" dirty="0">
                <a:solidFill>
                  <a:srgbClr val="FFB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−0,01</a:t>
            </a:r>
            <a:endParaRPr lang="en-US" sz="2356" dirty="0"/>
          </a:p>
        </p:txBody>
      </p:sp>
      <p:sp>
        <p:nvSpPr>
          <p:cNvPr id="123" name="Text 115"/>
          <p:cNvSpPr txBox="1"/>
          <p:nvPr/>
        </p:nvSpPr>
        <p:spPr>
          <a:xfrm>
            <a:off x="16733520" y="1487652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32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Árvore de decisão</a:t>
            </a:r>
            <a:endParaRPr lang="en-US" sz="2232" dirty="0"/>
          </a:p>
        </p:txBody>
      </p:sp>
      <p:sp>
        <p:nvSpPr>
          <p:cNvPr id="124" name="Text 116"/>
          <p:cNvSpPr txBox="1"/>
          <p:nvPr/>
        </p:nvSpPr>
        <p:spPr>
          <a:xfrm>
            <a:off x="21168360" y="1487652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6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0,40</a:t>
            </a:r>
            <a:endParaRPr lang="en-US" sz="2356" dirty="0"/>
          </a:p>
        </p:txBody>
      </p:sp>
      <p:sp>
        <p:nvSpPr>
          <p:cNvPr id="125" name="Text 117"/>
          <p:cNvSpPr txBox="1"/>
          <p:nvPr/>
        </p:nvSpPr>
        <p:spPr>
          <a:xfrm>
            <a:off x="22997160" y="1487652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32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32" dirty="0"/>
          </a:p>
        </p:txBody>
      </p:sp>
      <p:sp>
        <p:nvSpPr>
          <p:cNvPr id="126" name="Text 118"/>
          <p:cNvSpPr txBox="1"/>
          <p:nvPr/>
        </p:nvSpPr>
        <p:spPr>
          <a:xfrm>
            <a:off x="23545800" y="1487652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6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0,42</a:t>
            </a:r>
            <a:endParaRPr lang="en-US" sz="2356" dirty="0"/>
          </a:p>
        </p:txBody>
      </p:sp>
      <p:sp>
        <p:nvSpPr>
          <p:cNvPr id="127" name="Text 119"/>
          <p:cNvSpPr txBox="1"/>
          <p:nvPr/>
        </p:nvSpPr>
        <p:spPr>
          <a:xfrm>
            <a:off x="26014680" y="1487652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6" b="1" dirty="0">
                <a:solidFill>
                  <a:srgbClr val="0B8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+0,02</a:t>
            </a:r>
            <a:endParaRPr lang="en-US" sz="2356" dirty="0"/>
          </a:p>
        </p:txBody>
      </p:sp>
      <p:sp>
        <p:nvSpPr>
          <p:cNvPr id="128" name="Shape 120"/>
          <p:cNvSpPr/>
          <p:nvPr/>
        </p:nvSpPr>
        <p:spPr>
          <a:xfrm>
            <a:off x="16459200" y="15480030"/>
            <a:ext cx="15026335" cy="62179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9" name="Text 121"/>
          <p:cNvSpPr txBox="1"/>
          <p:nvPr/>
        </p:nvSpPr>
        <p:spPr>
          <a:xfrm>
            <a:off x="16733520" y="1553489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32" b="1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2232" dirty="0"/>
          </a:p>
        </p:txBody>
      </p:sp>
      <p:sp>
        <p:nvSpPr>
          <p:cNvPr id="130" name="Text 122"/>
          <p:cNvSpPr txBox="1"/>
          <p:nvPr/>
        </p:nvSpPr>
        <p:spPr>
          <a:xfrm>
            <a:off x="21168360" y="1553489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6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0,42</a:t>
            </a:r>
            <a:endParaRPr lang="en-US" sz="2356" dirty="0"/>
          </a:p>
        </p:txBody>
      </p:sp>
      <p:sp>
        <p:nvSpPr>
          <p:cNvPr id="131" name="Text 123"/>
          <p:cNvSpPr txBox="1"/>
          <p:nvPr/>
        </p:nvSpPr>
        <p:spPr>
          <a:xfrm>
            <a:off x="22997160" y="1553489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32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32" dirty="0"/>
          </a:p>
        </p:txBody>
      </p:sp>
      <p:sp>
        <p:nvSpPr>
          <p:cNvPr id="132" name="Text 124"/>
          <p:cNvSpPr txBox="1"/>
          <p:nvPr/>
        </p:nvSpPr>
        <p:spPr>
          <a:xfrm>
            <a:off x="23545800" y="1553489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6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0,44</a:t>
            </a:r>
            <a:endParaRPr lang="en-US" sz="2356" dirty="0"/>
          </a:p>
        </p:txBody>
      </p:sp>
      <p:sp>
        <p:nvSpPr>
          <p:cNvPr id="133" name="Text 125"/>
          <p:cNvSpPr txBox="1"/>
          <p:nvPr/>
        </p:nvSpPr>
        <p:spPr>
          <a:xfrm>
            <a:off x="26014680" y="1553489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56" b="1" dirty="0">
                <a:solidFill>
                  <a:srgbClr val="0B8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+0,02</a:t>
            </a:r>
            <a:endParaRPr lang="en-US" sz="2356" dirty="0"/>
          </a:p>
        </p:txBody>
      </p:sp>
      <p:sp>
        <p:nvSpPr>
          <p:cNvPr id="135" name="Text 127"/>
          <p:cNvSpPr txBox="1"/>
          <p:nvPr/>
        </p:nvSpPr>
        <p:spPr>
          <a:xfrm>
            <a:off x="16687800" y="16449294"/>
            <a:ext cx="1456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70" b="1" dirty="0">
                <a:solidFill>
                  <a:srgbClr val="086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Atributos: 1.933 → KNN 871 | RF 900 | MLP 920 | DT 947  (redução de 51,0% a 54,9%)</a:t>
            </a:r>
            <a:endParaRPr lang="en-US" sz="2170" dirty="0"/>
          </a:p>
        </p:txBody>
      </p:sp>
      <p:sp>
        <p:nvSpPr>
          <p:cNvPr id="136" name="Shape 128"/>
          <p:cNvSpPr/>
          <p:nvPr/>
        </p:nvSpPr>
        <p:spPr>
          <a:xfrm>
            <a:off x="16459200" y="17117568"/>
            <a:ext cx="15026335" cy="621792"/>
          </a:xfrm>
          <a:prstGeom prst="rect">
            <a:avLst/>
          </a:prstGeom>
          <a:solidFill>
            <a:srgbClr val="0B86A6"/>
          </a:solidFill>
          <a:ln w="12700">
            <a:solidFill>
              <a:srgbClr val="0B8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7" name="Text 129"/>
          <p:cNvSpPr txBox="1"/>
          <p:nvPr/>
        </p:nvSpPr>
        <p:spPr>
          <a:xfrm>
            <a:off x="16642080" y="17145000"/>
            <a:ext cx="14660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Interação entre atributos</a:t>
            </a:r>
            <a:endParaRPr lang="en-US" sz="3472" dirty="0"/>
          </a:p>
        </p:txBody>
      </p:sp>
      <p:sp>
        <p:nvSpPr>
          <p:cNvPr id="138" name="Text 130"/>
          <p:cNvSpPr txBox="1"/>
          <p:nvPr/>
        </p:nvSpPr>
        <p:spPr>
          <a:xfrm>
            <a:off x="16550640" y="17876520"/>
            <a:ext cx="14843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18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grafos mostram que atributos relevantes e padrões de interação dependem do modelo. A espessura das arestas representa a intensidade da </a:t>
            </a:r>
            <a:r>
              <a:rPr lang="en-US" sz="2418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interação</a:t>
            </a:r>
            <a:r>
              <a:rPr lang="en-US" sz="2418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18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estimada</a:t>
            </a:r>
            <a:r>
              <a:rPr lang="en-US" sz="2418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18" dirty="0"/>
          </a:p>
        </p:txBody>
      </p:sp>
      <p:pic>
        <p:nvPicPr>
          <p:cNvPr id="139" name="Image 6" descr="/home/daniel/siicusp_poster/assets/interacao-ml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06949" y="18745200"/>
            <a:ext cx="7730836" cy="6400800"/>
          </a:xfrm>
          <a:prstGeom prst="rect">
            <a:avLst/>
          </a:prstGeom>
        </p:spPr>
      </p:pic>
      <p:sp>
        <p:nvSpPr>
          <p:cNvPr id="140" name="Text 131"/>
          <p:cNvSpPr txBox="1"/>
          <p:nvPr/>
        </p:nvSpPr>
        <p:spPr>
          <a:xfrm>
            <a:off x="16733520" y="25164288"/>
            <a:ext cx="14477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46" i="1" dirty="0" err="1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</a:t>
            </a:r>
            <a:r>
              <a:rPr lang="en-US" sz="2046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— Grafo de interação obtido para o MLP..</a:t>
            </a:r>
            <a:endParaRPr lang="en-US" sz="2046" dirty="0"/>
          </a:p>
        </p:txBody>
      </p:sp>
      <p:sp>
        <p:nvSpPr>
          <p:cNvPr id="141" name="Shape 132"/>
          <p:cNvSpPr/>
          <p:nvPr/>
        </p:nvSpPr>
        <p:spPr>
          <a:xfrm>
            <a:off x="16459200" y="25831800"/>
            <a:ext cx="15026335" cy="621792"/>
          </a:xfrm>
          <a:prstGeom prst="rect">
            <a:avLst/>
          </a:prstGeom>
          <a:solidFill>
            <a:srgbClr val="0B86A6"/>
          </a:solidFill>
          <a:ln w="12700">
            <a:solidFill>
              <a:srgbClr val="0B8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2" name="Text 133"/>
          <p:cNvSpPr txBox="1"/>
          <p:nvPr/>
        </p:nvSpPr>
        <p:spPr>
          <a:xfrm>
            <a:off x="16642080" y="25859232"/>
            <a:ext cx="14660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Conclusões</a:t>
            </a:r>
            <a:endParaRPr lang="en-US" sz="3472" dirty="0"/>
          </a:p>
        </p:txBody>
      </p:sp>
      <p:sp>
        <p:nvSpPr>
          <p:cNvPr id="143" name="Text 134"/>
          <p:cNvSpPr txBox="1"/>
          <p:nvPr/>
        </p:nvSpPr>
        <p:spPr>
          <a:xfrm>
            <a:off x="16550640" y="26590752"/>
            <a:ext cx="1484345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base Fundação ABC, os maiores ganhos ocorreram no MLP e no KNN; apenas a árvore de decisão apresentou pequena redução de R². Na base hiperespectral, as diferenças de acurácia foram discretas: dois modelos melhoraram e dois apresentaram leve queda. Assim, o GAwLL reduziu a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dimensionalidade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significativamente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(~76% para base da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ABC e ~52% para as Imagens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Hiperspectrais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mantendo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desempenho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semelhante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relativamente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alguns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além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2480" dirty="0" err="1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fornecer</a:t>
            </a:r>
            <a:r>
              <a:rPr lang="en-US" sz="248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informações sobre importância e interação de atributos.</a:t>
            </a:r>
            <a:endParaRPr lang="en-US" sz="2480" dirty="0"/>
          </a:p>
        </p:txBody>
      </p:sp>
      <p:sp>
        <p:nvSpPr>
          <p:cNvPr id="144" name="Shape 135"/>
          <p:cNvSpPr/>
          <p:nvPr/>
        </p:nvSpPr>
        <p:spPr>
          <a:xfrm>
            <a:off x="16459200" y="30376368"/>
            <a:ext cx="15026335" cy="621792"/>
          </a:xfrm>
          <a:prstGeom prst="rect">
            <a:avLst/>
          </a:prstGeom>
          <a:solidFill>
            <a:srgbClr val="0B86A6"/>
          </a:solidFill>
          <a:ln w="12700">
            <a:solidFill>
              <a:srgbClr val="0B8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5" name="Text 136"/>
          <p:cNvSpPr txBox="1"/>
          <p:nvPr/>
        </p:nvSpPr>
        <p:spPr>
          <a:xfrm>
            <a:off x="16642080" y="30403800"/>
            <a:ext cx="14660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3472" dirty="0"/>
          </a:p>
        </p:txBody>
      </p:sp>
      <p:sp>
        <p:nvSpPr>
          <p:cNvPr id="146" name="Text 137"/>
          <p:cNvSpPr txBox="1"/>
          <p:nvPr/>
        </p:nvSpPr>
        <p:spPr>
          <a:xfrm>
            <a:off x="16550640" y="31135320"/>
            <a:ext cx="14843455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46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r>
              <a:rPr lang="en-US" sz="24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1] TINÓS, R.; PRZEWOZNICZEK, M. W.; WHITLEY, D.; CHICANO, F. Genetic Algorithm with Linkage Learning. GECCO, 2023.</a:t>
            </a:r>
            <a:endParaRPr lang="en-US" sz="24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TINÓS, R. et al. Learning Variable Importance and Interaction in Genetic Algorithms. Evolutionary Computation, submetido, 2025.</a:t>
            </a:r>
            <a:endParaRPr lang="en-US" sz="24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CORREA, D. V. et al. Aprendizagem de máquina para identificação de plantas de soja sob ataque de insetos usando dados hiperespectrais. Colloquium Exactarum, 14(1), 2022.</a:t>
            </a:r>
            <a:endParaRPr lang="en-US" sz="24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RUELAS, J. L. J. Análise filogenética e modelagem estrutural para otimização da produção agrícola. USP, 2025.</a:t>
            </a:r>
            <a:endParaRPr lang="en-US" sz="24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EIBEN, A. E.; SMITH, J. E. Introduction to Evolutionary Computing. Springer, 2003.</a:t>
            </a:r>
            <a:endParaRPr lang="en-US" sz="2400" dirty="0"/>
          </a:p>
        </p:txBody>
      </p:sp>
      <p:sp>
        <p:nvSpPr>
          <p:cNvPr id="147" name="Shape 138"/>
          <p:cNvSpPr/>
          <p:nvPr/>
        </p:nvSpPr>
        <p:spPr>
          <a:xfrm>
            <a:off x="16459200" y="36621720"/>
            <a:ext cx="15026335" cy="621792"/>
          </a:xfrm>
          <a:prstGeom prst="rect">
            <a:avLst/>
          </a:prstGeom>
          <a:solidFill>
            <a:srgbClr val="0B86A6"/>
          </a:solidFill>
          <a:ln w="12700">
            <a:solidFill>
              <a:srgbClr val="0B8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8" name="Text 139"/>
          <p:cNvSpPr txBox="1"/>
          <p:nvPr/>
        </p:nvSpPr>
        <p:spPr>
          <a:xfrm>
            <a:off x="16642080" y="36649152"/>
            <a:ext cx="14660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Agradecimentos</a:t>
            </a:r>
            <a:endParaRPr lang="en-US" sz="3472" dirty="0"/>
          </a:p>
        </p:txBody>
      </p:sp>
      <p:sp>
        <p:nvSpPr>
          <p:cNvPr id="150" name="Text 141"/>
          <p:cNvSpPr txBox="1"/>
          <p:nvPr/>
        </p:nvSpPr>
        <p:spPr>
          <a:xfrm>
            <a:off x="16840505" y="37604510"/>
            <a:ext cx="14203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94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Programa Institucional de Bolsas de Iniciação Científica (PIBIC), à Universidade de São Paulo e ao orientador pelo apoio ao desenvolvimento deste trabalho.</a:t>
            </a:r>
            <a:endParaRPr lang="en-US" sz="2294" dirty="0"/>
          </a:p>
        </p:txBody>
      </p:sp>
      <p:sp>
        <p:nvSpPr>
          <p:cNvPr id="158" name="Text 131">
            <a:extLst>
              <a:ext uri="{FF2B5EF4-FFF2-40B4-BE49-F238E27FC236}">
                <a16:creationId xmlns:a16="http://schemas.microsoft.com/office/drawing/2014/main" id="{D978A809-4E9F-5E7F-26DE-ED9D395A3533}"/>
              </a:ext>
            </a:extLst>
          </p:cNvPr>
          <p:cNvSpPr txBox="1"/>
          <p:nvPr/>
        </p:nvSpPr>
        <p:spPr>
          <a:xfrm>
            <a:off x="921258" y="34392633"/>
            <a:ext cx="7342632" cy="61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46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1 — </a:t>
            </a:r>
            <a:r>
              <a:rPr lang="en-US" sz="2046" i="1" dirty="0" err="1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Desempenho</a:t>
            </a:r>
            <a:r>
              <a:rPr lang="en-US" sz="2046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</a:t>
            </a:r>
            <a:r>
              <a:rPr lang="en-US" sz="2046" i="1" dirty="0" err="1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</a:t>
            </a:r>
            <a:r>
              <a:rPr lang="en-US" sz="2046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46" i="1" dirty="0" err="1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r>
              <a:rPr lang="en-US" sz="2046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46" i="1" dirty="0" err="1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</a:t>
            </a:r>
            <a:r>
              <a:rPr lang="en-US" sz="2046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46" dirty="0"/>
          </a:p>
        </p:txBody>
      </p:sp>
      <p:sp>
        <p:nvSpPr>
          <p:cNvPr id="160" name="Text 131">
            <a:extLst>
              <a:ext uri="{FF2B5EF4-FFF2-40B4-BE49-F238E27FC236}">
                <a16:creationId xmlns:a16="http://schemas.microsoft.com/office/drawing/2014/main" id="{5C4A4758-CDC4-6CCE-0FBF-9A2CDB344DC1}"/>
              </a:ext>
            </a:extLst>
          </p:cNvPr>
          <p:cNvSpPr txBox="1"/>
          <p:nvPr/>
        </p:nvSpPr>
        <p:spPr>
          <a:xfrm>
            <a:off x="8737092" y="34405798"/>
            <a:ext cx="7342632" cy="61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46" i="1" dirty="0" err="1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</a:t>
            </a:r>
            <a:r>
              <a:rPr lang="en-US" sz="2046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— </a:t>
            </a:r>
            <a:r>
              <a:rPr lang="en-US" sz="2046" i="1" dirty="0" err="1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Desempenho</a:t>
            </a:r>
            <a:r>
              <a:rPr lang="en-US" sz="2046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</a:t>
            </a:r>
            <a:r>
              <a:rPr lang="en-US" sz="2046" i="1" dirty="0" err="1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</a:t>
            </a:r>
            <a:r>
              <a:rPr lang="en-US" sz="2046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46" i="1" dirty="0" err="1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selecionados</a:t>
            </a:r>
            <a:r>
              <a:rPr lang="en-US" sz="2046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46" dirty="0"/>
          </a:p>
        </p:txBody>
      </p:sp>
      <p:pic>
        <p:nvPicPr>
          <p:cNvPr id="162" name="Picture 161">
            <a:extLst>
              <a:ext uri="{FF2B5EF4-FFF2-40B4-BE49-F238E27FC236}">
                <a16:creationId xmlns:a16="http://schemas.microsoft.com/office/drawing/2014/main" id="{D42A39CE-729B-C60A-3B6B-DB93D6E6E3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67592" y="8100938"/>
            <a:ext cx="6618975" cy="3974888"/>
          </a:xfrm>
          <a:prstGeom prst="rect">
            <a:avLst/>
          </a:prstGeom>
        </p:spPr>
      </p:pic>
      <p:sp>
        <p:nvSpPr>
          <p:cNvPr id="164" name="Text 131">
            <a:extLst>
              <a:ext uri="{FF2B5EF4-FFF2-40B4-BE49-F238E27FC236}">
                <a16:creationId xmlns:a16="http://schemas.microsoft.com/office/drawing/2014/main" id="{35BA2705-FB29-7557-F6E0-871995A3E7C3}"/>
              </a:ext>
            </a:extLst>
          </p:cNvPr>
          <p:cNvSpPr txBox="1"/>
          <p:nvPr/>
        </p:nvSpPr>
        <p:spPr>
          <a:xfrm>
            <a:off x="17674590" y="12108504"/>
            <a:ext cx="5505450" cy="537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46" i="1" dirty="0" err="1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</a:t>
            </a:r>
            <a:r>
              <a:rPr lang="en-US" sz="2046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— </a:t>
            </a:r>
            <a:r>
              <a:rPr lang="en-US" sz="2046" i="1" dirty="0" err="1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Desempenho</a:t>
            </a:r>
            <a:r>
              <a:rPr lang="en-US" sz="2046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</a:t>
            </a:r>
            <a:r>
              <a:rPr lang="en-US" sz="2046" i="1" dirty="0" err="1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</a:t>
            </a:r>
            <a:r>
              <a:rPr lang="en-US" sz="2046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46" i="1" dirty="0" err="1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</a:t>
            </a:r>
            <a:r>
              <a:rPr lang="en-US" sz="2046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46" dirty="0"/>
          </a:p>
        </p:txBody>
      </p:sp>
      <p:sp>
        <p:nvSpPr>
          <p:cNvPr id="166" name="Text 131">
            <a:extLst>
              <a:ext uri="{FF2B5EF4-FFF2-40B4-BE49-F238E27FC236}">
                <a16:creationId xmlns:a16="http://schemas.microsoft.com/office/drawing/2014/main" id="{F59C80FB-6F33-7375-D47B-6B7264FF4DE8}"/>
              </a:ext>
            </a:extLst>
          </p:cNvPr>
          <p:cNvSpPr txBox="1"/>
          <p:nvPr/>
        </p:nvSpPr>
        <p:spPr>
          <a:xfrm>
            <a:off x="24447405" y="12108504"/>
            <a:ext cx="6780759" cy="537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46" i="1" dirty="0" err="1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</a:t>
            </a:r>
            <a:r>
              <a:rPr lang="en-US" sz="2046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— </a:t>
            </a:r>
            <a:r>
              <a:rPr lang="en-US" sz="2046" i="1" dirty="0" err="1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Desempenho</a:t>
            </a:r>
            <a:r>
              <a:rPr lang="en-US" sz="2046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 </a:t>
            </a:r>
            <a:r>
              <a:rPr lang="en-US" sz="2046" i="1" dirty="0" err="1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</a:t>
            </a:r>
            <a:r>
              <a:rPr lang="en-US" sz="2046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46" i="1" dirty="0" err="1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selecionados</a:t>
            </a:r>
            <a:r>
              <a:rPr lang="en-US" sz="2046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46" dirty="0"/>
          </a:p>
        </p:txBody>
      </p:sp>
      <p:pic>
        <p:nvPicPr>
          <p:cNvPr id="167" name="Formulas GAwLL" descr="Cinco equações do GAwLL conforme a página 7 do relatório final.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34440" y="21600000"/>
            <a:ext cx="14386255" cy="4023360"/>
          </a:xfrm>
          <a:prstGeom prst="rect">
            <a:avLst/>
          </a:prstGeom>
        </p:spPr>
      </p:pic>
      <p:sp>
        <p:nvSpPr>
          <p:cNvPr id="168" name="Numero equacao fitness"/>
          <p:cNvSpPr txBox="1"/>
          <p:nvPr/>
        </p:nvSpPr>
        <p:spPr>
          <a:xfrm>
            <a:off x="14886400" y="19997923"/>
            <a:ext cx="734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600" b="0" dirty="0">
                <a:solidFill>
                  <a:srgbClr val="3F4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900</Words>
  <Application>Microsoft Office PowerPoint</Application>
  <PresentationFormat>Custom</PresentationFormat>
  <Paragraphs>120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Universidade de São Paulo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Genéticos para Estimação de Importância e Interação de Atributos na Classificação de Imagens Espectrais em Agricultura</dc:title>
  <dc:subject>Pôster científico — 34º SIICUSP</dc:subject>
  <dc:creator>Daniel Natan dos Santos Brito</dc:creator>
  <cp:lastModifiedBy>Daniel Natan</cp:lastModifiedBy>
  <cp:revision>5</cp:revision>
  <dcterms:created xsi:type="dcterms:W3CDTF">2026-09-16T00:01:27Z</dcterms:created>
  <dcterms:modified xsi:type="dcterms:W3CDTF">2026-09-17T16:52:53Z</dcterms:modified>
</cp:coreProperties>
</file>